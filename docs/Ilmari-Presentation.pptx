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6" r:id="rId7"/>
    <p:sldId id="270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219F9-FCDF-CE43-B221-69E10029A485}" v="23" dt="2026-04-17T15:00:38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4"/>
    <p:restoredTop sz="94610"/>
  </p:normalViewPr>
  <p:slideViewPr>
    <p:cSldViewPr snapToGrid="0" snapToObjects="1">
      <p:cViewPr>
        <p:scale>
          <a:sx n="284" d="100"/>
          <a:sy n="284" d="100"/>
        </p:scale>
        <p:origin x="1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745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6E27-3EBE-A3C3-1F36-DFFFCD27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2D928-B20F-352F-AD89-D178E03B9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1BC3E-0EBF-46E4-C590-DCBA9A204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E6D01-5CEA-EF11-9B8F-3CE455253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88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ILMARI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IIoT Digital Twins — Smart Building Telemetry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implementation for Industrial IoT using Azure Digital Twins,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Hub, and serverless event processing.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731520" y="4709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https://</a:t>
            </a:r>
            <a:r>
              <a:rPr lang="en-US" sz="1100" dirty="0" err="1">
                <a:solidFill>
                  <a:schemeClr val="bg1"/>
                </a:solidFill>
              </a:rPr>
              <a:t>github.com</a:t>
            </a:r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100" dirty="0" err="1">
                <a:solidFill>
                  <a:schemeClr val="bg1"/>
                </a:solidFill>
              </a:rPr>
              <a:t>VanhanenJLA</a:t>
            </a:r>
            <a:r>
              <a:rPr lang="en-US" sz="1100" dirty="0">
                <a:solidFill>
                  <a:schemeClr val="bg1"/>
                </a:solidFill>
              </a:rPr>
              <a:t>/Ilmari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Ilmari?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915594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64008" cy="3200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Azure-based IIoT scaffold for smart-building Digital Twins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39" y="2011680"/>
            <a:ext cx="431023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building with rooms, HVAC units, and environmental sensors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telemetry from IoT Hub into Azure Digital Twins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the sensor data against set rules on a timer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threshold breaches to Service Bus topics (alerts)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deployment with Bicep IaC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6751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IIoT &amp; Digital Twins — Why It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 IoT (IIoT)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connects physical assets — sensors, HVAC systems, equipment — to cloud platforms for real-time monitoring, analytics, and automated control. Building management is a prime use case: tracking temperature, CO₂, occupancy, and energy use across spaces.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749040" cy="32918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is a live virtual replica of physical infrastructure. Azure Digital Twins (ADT) provides a graph of typed models (DTDL) that mirror real assets. Telemetry patches keep the graph in sync, enabling queries, alerting, and spatial analytics.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</a:rPr>
              <a:t>Key Azure Services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Hub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0200" y="17373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connectivity and message routing (S1 tier)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11880" y="14173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89120" y="17373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DTDL-typed twin graph with query API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0" y="14173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Functions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178040" y="17373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event-driven compute (.NET 8 isolated)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03454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2217420" y="32461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8860" y="33375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994660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Bus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2994660" y="3566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topic + dead-letter queue for reliability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2346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006340" y="32461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7780" y="33375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83580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Insights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783580" y="3566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logging and KQL workbook dashboards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43" name="Text 35"/>
          <p:cNvSpPr/>
          <p:nvPr/>
        </p:nvSpPr>
        <p:spPr>
          <a:xfrm>
            <a:off x="365760" y="95319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DB74F4-A715-794E-D7D5-6458D763E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41" y="1010489"/>
            <a:ext cx="7772400" cy="3560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60604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Ilmari.AdtBootstrap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DTDL models and seeds a sample twin graph.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5A6B7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Floor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Rooms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HVAC + Sensors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74720" y="11430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0" y="1143000"/>
            <a:ext cx="260604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1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Ilmari.Functions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isolated worker app.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two triggers: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IngestTelemetry</a:t>
            </a: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(EventHub)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ProcessAlertRules</a:t>
            </a: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(Timer)</a:t>
            </a:r>
          </a:p>
        </p:txBody>
      </p:sp>
      <p:sp>
        <p:nvSpPr>
          <p:cNvPr id="16" name="Text 12"/>
          <p:cNvSpPr/>
          <p:nvPr/>
        </p:nvSpPr>
        <p:spPr>
          <a:xfrm>
            <a:off x="3703320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09360" y="11430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09360" y="1143000"/>
            <a:ext cx="260604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3716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Ilmari.Simulator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4652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console app.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per-room telemetry based on hardcoded scenarios.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via MQTT.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537960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11EF1-7AB2-A8CF-6300-7D747947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3108D2-167F-9ABB-5431-7F6B57D3F154}"/>
              </a:ext>
            </a:extLst>
          </p:cNvPr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</a:rPr>
              <a:t>Telemetry Overview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128811-408D-A4CF-6EDA-BC147AC67E4E}"/>
              </a:ext>
            </a:extLst>
          </p:cNvPr>
          <p:cNvSpPr/>
          <p:nvPr/>
        </p:nvSpPr>
        <p:spPr>
          <a:xfrm>
            <a:off x="365760" y="131895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996D5F-26EC-1299-D216-4D5B2E4DD5EE}"/>
              </a:ext>
            </a:extLst>
          </p:cNvPr>
          <p:cNvSpPr/>
          <p:nvPr/>
        </p:nvSpPr>
        <p:spPr>
          <a:xfrm>
            <a:off x="365760" y="1318950"/>
            <a:ext cx="1645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307AB82-4E57-AFCA-5FC1-106D7CCC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01830"/>
            <a:ext cx="4572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96DECF7-C02D-0036-71EA-E05C1E6BE827}"/>
              </a:ext>
            </a:extLst>
          </p:cNvPr>
          <p:cNvSpPr/>
          <p:nvPr/>
        </p:nvSpPr>
        <p:spPr>
          <a:xfrm>
            <a:off x="365760" y="200475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Simulator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BBB231A-CB03-152F-F5FC-1811EEDBA9CD}"/>
              </a:ext>
            </a:extLst>
          </p:cNvPr>
          <p:cNvSpPr/>
          <p:nvPr/>
        </p:nvSpPr>
        <p:spPr>
          <a:xfrm>
            <a:off x="457200" y="237051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telemetry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(MQTT)</a:t>
            </a:r>
            <a:endParaRPr lang="en-US" sz="9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2276E8E-58C2-B912-7A77-9E62B66D7A2C}"/>
              </a:ext>
            </a:extLst>
          </p:cNvPr>
          <p:cNvSpPr/>
          <p:nvPr/>
        </p:nvSpPr>
        <p:spPr>
          <a:xfrm>
            <a:off x="2240280" y="131895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4B4FCEC-318E-66FB-CB4F-A6F67DF898EC}"/>
              </a:ext>
            </a:extLst>
          </p:cNvPr>
          <p:cNvSpPr/>
          <p:nvPr/>
        </p:nvSpPr>
        <p:spPr>
          <a:xfrm>
            <a:off x="2240280" y="1318950"/>
            <a:ext cx="1645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1BF8FE6-E554-3533-BB4A-F389223FB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501830"/>
            <a:ext cx="457200" cy="4572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158803C-6432-E1C2-F4E5-92AF93AAE374}"/>
              </a:ext>
            </a:extLst>
          </p:cNvPr>
          <p:cNvSpPr/>
          <p:nvPr/>
        </p:nvSpPr>
        <p:spPr>
          <a:xfrm>
            <a:off x="2240280" y="200475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Hub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F11BDF7-6A74-D3A5-02F1-A6A8B77B0804}"/>
              </a:ext>
            </a:extLst>
          </p:cNvPr>
          <p:cNvSpPr/>
          <p:nvPr/>
        </p:nvSpPr>
        <p:spPr>
          <a:xfrm>
            <a:off x="2331720" y="237051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gateway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Hub endpoint)</a:t>
            </a:r>
            <a:endParaRPr lang="en-US" sz="9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B15770C-9F9A-6831-3CAB-95AF6C63A9AE}"/>
              </a:ext>
            </a:extLst>
          </p:cNvPr>
          <p:cNvSpPr/>
          <p:nvPr/>
        </p:nvSpPr>
        <p:spPr>
          <a:xfrm>
            <a:off x="4114800" y="131895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F9AF3EA-4E92-1B07-CC3E-28C25B239885}"/>
              </a:ext>
            </a:extLst>
          </p:cNvPr>
          <p:cNvSpPr/>
          <p:nvPr/>
        </p:nvSpPr>
        <p:spPr>
          <a:xfrm>
            <a:off x="4114800" y="1318950"/>
            <a:ext cx="1645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172EAD03-C053-32B4-402A-7B4FCD0F6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501830"/>
            <a:ext cx="457200" cy="45720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A53DB249-81F1-BE6C-C541-101257AD2EF3}"/>
              </a:ext>
            </a:extLst>
          </p:cNvPr>
          <p:cNvSpPr/>
          <p:nvPr/>
        </p:nvSpPr>
        <p:spPr>
          <a:xfrm>
            <a:off x="4114800" y="200475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IngestTelemetry</a:t>
            </a:r>
            <a:endParaRPr lang="en-US" sz="1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54989F1-9ADC-6661-E5E3-462B0ED6790F}"/>
              </a:ext>
            </a:extLst>
          </p:cNvPr>
          <p:cNvSpPr/>
          <p:nvPr/>
        </p:nvSpPr>
        <p:spPr>
          <a:xfrm>
            <a:off x="4206240" y="237051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Hub trigger)</a:t>
            </a:r>
            <a:endParaRPr lang="en-US" sz="95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0E795F2-3639-0AF8-5D3E-0F3AB84EA218}"/>
              </a:ext>
            </a:extLst>
          </p:cNvPr>
          <p:cNvSpPr/>
          <p:nvPr/>
        </p:nvSpPr>
        <p:spPr>
          <a:xfrm>
            <a:off x="5989320" y="131895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FBA3D32-35E3-62BB-1EFB-594256E539F7}"/>
              </a:ext>
            </a:extLst>
          </p:cNvPr>
          <p:cNvSpPr/>
          <p:nvPr/>
        </p:nvSpPr>
        <p:spPr>
          <a:xfrm>
            <a:off x="5989320" y="1318950"/>
            <a:ext cx="1645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DF8401B0-96F8-B3C1-C958-9605EF95C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501830"/>
            <a:ext cx="457200" cy="45720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2585BA33-48EF-BFD8-3E4D-4A3441656286}"/>
              </a:ext>
            </a:extLst>
          </p:cNvPr>
          <p:cNvSpPr/>
          <p:nvPr/>
        </p:nvSpPr>
        <p:spPr>
          <a:xfrm>
            <a:off x="5989320" y="200475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Twins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309E8AD-B60A-D744-83F7-DA1AFC4CE458}"/>
              </a:ext>
            </a:extLst>
          </p:cNvPr>
          <p:cNvSpPr/>
          <p:nvPr/>
        </p:nvSpPr>
        <p:spPr>
          <a:xfrm>
            <a:off x="6080760" y="237051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graph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(DTDL models)</a:t>
            </a:r>
            <a:endParaRPr lang="en-US" sz="95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F0951C84-4307-52D5-1871-930E549E4E20}"/>
              </a:ext>
            </a:extLst>
          </p:cNvPr>
          <p:cNvSpPr/>
          <p:nvPr/>
        </p:nvSpPr>
        <p:spPr>
          <a:xfrm>
            <a:off x="2011680" y="2096190"/>
            <a:ext cx="2743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836B6B1-B1B0-5945-F027-FA2AAC66D8CC}"/>
              </a:ext>
            </a:extLst>
          </p:cNvPr>
          <p:cNvSpPr/>
          <p:nvPr/>
        </p:nvSpPr>
        <p:spPr>
          <a:xfrm>
            <a:off x="2194560" y="198646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B54689C-A676-5DCB-9D77-D68DFC87F011}"/>
              </a:ext>
            </a:extLst>
          </p:cNvPr>
          <p:cNvSpPr/>
          <p:nvPr/>
        </p:nvSpPr>
        <p:spPr>
          <a:xfrm>
            <a:off x="3886200" y="2096190"/>
            <a:ext cx="2743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A0479E50-E9EF-4CA7-D476-AFEAF301228A}"/>
              </a:ext>
            </a:extLst>
          </p:cNvPr>
          <p:cNvSpPr/>
          <p:nvPr/>
        </p:nvSpPr>
        <p:spPr>
          <a:xfrm>
            <a:off x="4069080" y="198646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CE18494F-1389-8B96-97D4-44771B3F1011}"/>
              </a:ext>
            </a:extLst>
          </p:cNvPr>
          <p:cNvSpPr/>
          <p:nvPr/>
        </p:nvSpPr>
        <p:spPr>
          <a:xfrm>
            <a:off x="5760720" y="2096190"/>
            <a:ext cx="2743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96E883F-86F1-94C7-CAC1-28CA6592CDF0}"/>
              </a:ext>
            </a:extLst>
          </p:cNvPr>
          <p:cNvSpPr/>
          <p:nvPr/>
        </p:nvSpPr>
        <p:spPr>
          <a:xfrm>
            <a:off x="5943600" y="198646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ADFB3126-6CC2-7CF4-A069-FD2505413043}"/>
              </a:ext>
            </a:extLst>
          </p:cNvPr>
          <p:cNvSpPr/>
          <p:nvPr/>
        </p:nvSpPr>
        <p:spPr>
          <a:xfrm>
            <a:off x="4114800" y="3330630"/>
            <a:ext cx="1645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21D45B44-5EA2-8314-9D89-3CF94DBE4198}"/>
              </a:ext>
            </a:extLst>
          </p:cNvPr>
          <p:cNvSpPr/>
          <p:nvPr/>
        </p:nvSpPr>
        <p:spPr>
          <a:xfrm>
            <a:off x="4114800" y="3330630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452A1EFD-3ABC-2511-74DD-030856E03F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467790"/>
            <a:ext cx="457200" cy="457200"/>
          </a:xfrm>
          <a:prstGeom prst="rect">
            <a:avLst/>
          </a:prstGeom>
        </p:spPr>
      </p:pic>
      <p:sp>
        <p:nvSpPr>
          <p:cNvPr id="32" name="Text 25">
            <a:extLst>
              <a:ext uri="{FF2B5EF4-FFF2-40B4-BE49-F238E27FC236}">
                <a16:creationId xmlns:a16="http://schemas.microsoft.com/office/drawing/2014/main" id="{BD6433E7-A09E-B6EC-3DDE-8A9228324670}"/>
              </a:ext>
            </a:extLst>
          </p:cNvPr>
          <p:cNvSpPr/>
          <p:nvPr/>
        </p:nvSpPr>
        <p:spPr>
          <a:xfrm>
            <a:off x="4114800" y="392499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ProcessAlertRules</a:t>
            </a:r>
            <a:endParaRPr lang="en-US" sz="12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FE20CA04-51C8-AFA1-3FCD-20507F7A28C5}"/>
              </a:ext>
            </a:extLst>
          </p:cNvPr>
          <p:cNvSpPr/>
          <p:nvPr/>
        </p:nvSpPr>
        <p:spPr>
          <a:xfrm>
            <a:off x="4206240" y="424503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trigger (10s)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ADT rooms</a:t>
            </a:r>
            <a:endParaRPr lang="en-US" sz="950" dirty="0"/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2F981611-EFF9-CE53-310D-500FB3C3F0A5}"/>
              </a:ext>
            </a:extLst>
          </p:cNvPr>
          <p:cNvSpPr/>
          <p:nvPr/>
        </p:nvSpPr>
        <p:spPr>
          <a:xfrm>
            <a:off x="5989320" y="3330630"/>
            <a:ext cx="1645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D3CB8CD1-72B1-D3CF-3B3A-3E44955FA134}"/>
              </a:ext>
            </a:extLst>
          </p:cNvPr>
          <p:cNvSpPr/>
          <p:nvPr/>
        </p:nvSpPr>
        <p:spPr>
          <a:xfrm>
            <a:off x="5989320" y="3330630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E6175039-FB73-59BD-8F30-02B7420832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467790"/>
            <a:ext cx="457200" cy="457200"/>
          </a:xfrm>
          <a:prstGeom prst="rect">
            <a:avLst/>
          </a:prstGeom>
        </p:spPr>
      </p:pic>
      <p:sp>
        <p:nvSpPr>
          <p:cNvPr id="37" name="Text 29">
            <a:extLst>
              <a:ext uri="{FF2B5EF4-FFF2-40B4-BE49-F238E27FC236}">
                <a16:creationId xmlns:a16="http://schemas.microsoft.com/office/drawing/2014/main" id="{A88146F7-0F06-EA95-3B5C-DC4B5695E65E}"/>
              </a:ext>
            </a:extLst>
          </p:cNvPr>
          <p:cNvSpPr/>
          <p:nvPr/>
        </p:nvSpPr>
        <p:spPr>
          <a:xfrm>
            <a:off x="5989320" y="392499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Bus</a:t>
            </a:r>
            <a:endParaRPr lang="en-US" sz="120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58616503-D657-EC9D-3256-88CFFCE19E0C}"/>
              </a:ext>
            </a:extLst>
          </p:cNvPr>
          <p:cNvSpPr/>
          <p:nvPr/>
        </p:nvSpPr>
        <p:spPr>
          <a:xfrm>
            <a:off x="6080760" y="424503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topic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breaches)</a:t>
            </a:r>
            <a:endParaRPr lang="en-US" sz="95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A6D49CEE-AAB5-EE2B-0809-4F8F60BB4D39}"/>
              </a:ext>
            </a:extLst>
          </p:cNvPr>
          <p:cNvSpPr/>
          <p:nvPr/>
        </p:nvSpPr>
        <p:spPr>
          <a:xfrm>
            <a:off x="5760720" y="3970710"/>
            <a:ext cx="2743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3FFEA37C-8729-C3A1-C068-740C46E463A4}"/>
              </a:ext>
            </a:extLst>
          </p:cNvPr>
          <p:cNvSpPr/>
          <p:nvPr/>
        </p:nvSpPr>
        <p:spPr>
          <a:xfrm>
            <a:off x="5943600" y="386098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11E6652B-C507-FB98-50F3-07A9040999C1}"/>
              </a:ext>
            </a:extLst>
          </p:cNvPr>
          <p:cNvSpPr/>
          <p:nvPr/>
        </p:nvSpPr>
        <p:spPr>
          <a:xfrm>
            <a:off x="4846320" y="31934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03459E33-8E05-F199-79E2-2B775A4ED42D}"/>
              </a:ext>
            </a:extLst>
          </p:cNvPr>
          <p:cNvSpPr/>
          <p:nvPr/>
        </p:nvSpPr>
        <p:spPr>
          <a:xfrm>
            <a:off x="365760" y="95319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Ingestion Path</a:t>
            </a:r>
            <a:endParaRPr lang="en-US" sz="110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43431413-704E-B37F-CE26-1DF0D992008C}"/>
              </a:ext>
            </a:extLst>
          </p:cNvPr>
          <p:cNvSpPr/>
          <p:nvPr/>
        </p:nvSpPr>
        <p:spPr>
          <a:xfrm>
            <a:off x="4114800" y="301059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Processing Path</a:t>
            </a:r>
            <a:endParaRPr lang="en-US" sz="1100" dirty="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10AD012B-4320-2C14-B3E7-EE30216C714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53C16A4-20F6-8C6E-DC7A-B7178C5A1957}"/>
              </a:ext>
            </a:extLst>
          </p:cNvPr>
          <p:cNvCxnSpPr>
            <a:cxnSpLocks/>
          </p:cNvCxnSpPr>
          <p:nvPr/>
        </p:nvCxnSpPr>
        <p:spPr>
          <a:xfrm flipV="1">
            <a:off x="5760720" y="2964870"/>
            <a:ext cx="27432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40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25880" y="114300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Simulation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Ilmari.Simulator generates per-room JSON events: temperature, humidity, CO₂, occupancy, and HVAC state. Sends via MQTT to IoT Hub.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80" y="205740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Hub Routing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Hub receives device-to-cloud messages and exposes them via its built-in Event Hub-compatible endpoint for downstream consumers.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5880" y="297180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IngestTelemetry Function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Azure Function with Event Hub trigger parses each telemetry event and patches the corresponding Room and HVAC twins in ADT.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25880" y="388620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ADT Graph Update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graph reflects real-time state. Room twins store tempC, co2Ppm, humidityPct. HVAC twins store mode, setpointC, powerKw.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931920" cy="347472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ProcessAlertRules function runs on a 10-second timer trigger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all Room twins from ADT via the query API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each room against defined rules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are published as structured messages to a Service Bus topic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Rules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91640"/>
          <a:ext cx="3840480" cy="1097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Rule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Max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Severity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TempOutOfRange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Co2OutOfRange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ppm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Simulator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Scenarios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.NET console app generates realistic telemetry with deterministic scenario logic: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005840" y="245059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Occupancy Transitions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switch between occupied/unoccupied states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05840" y="295351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1732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 Drift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260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gradually moves outside 18-24°C range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05840" y="345643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0584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41732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CO₂ Drift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92608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levels rise above 1000 ppm threshold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05840" y="395935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584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41732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HVAC Variation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2608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Mode/setpoint/power changes in response to conditions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as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Bicep (ilmari.bicep)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8760" y="1600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IaC template compiled to ARM JSON.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all resources with a single PowerShell script.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dev/prod environments with parameterized naming.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2471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1051560"/>
            <a:ext cx="7315200" cy="5943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069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069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./Deploy-Ilmari.ps1 -Env dev -ProjectName ilmari -Location northeurope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63040" y="13533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template creates all Azure resources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1801368"/>
            <a:ext cx="7315200" cy="5943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63040" y="1819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ADT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819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./Deploy-Ilmari.ps1 ... -RunAdtBootstrap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63040" y="21031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DTDL models and seed twin graph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243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2551176"/>
            <a:ext cx="7315200" cy="5943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63040" y="2569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 Simulator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569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./Deploy-Simulator.ps1 -Env dev -ProjectName ilmari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63040" y="28529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IoT device and get connection string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37413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3300984"/>
            <a:ext cx="7315200" cy="5943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63040" y="3319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Simulator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192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--project ./Ilmari.Simulator/...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63040" y="360273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sending telemetry to IoT Hub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2394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4050792"/>
            <a:ext cx="7315200" cy="5943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6304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Functions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azure functionapp publish func-ilmari-dev-xxxxx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63040" y="43525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run locally with Azure Functions Core Tools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Gaps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64008" cy="3474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Gaps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deduplication or cooldown windows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events when values return to normal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time-series data sink (only live state in ADT)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64008" cy="3474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25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for Future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actual physical sensor along the digital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alert deduplication and cooldown logic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recovery messages when metrics normalize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persistence (a database)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Ilmari  •  Azure IIoT Digital Twins Reference Implementation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8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834</Words>
  <Application>Microsoft Macintosh PowerPoint</Application>
  <PresentationFormat>On-screen Show (16:9)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Ilmari — Azure IIoT Digital Twins</dc:title>
  <dc:subject>PptxGenJS Presentation</dc:subject>
  <dc:creator>Ilmari Team</dc:creator>
  <cp:lastModifiedBy>Vanhanen, Jouni</cp:lastModifiedBy>
  <cp:revision>3</cp:revision>
  <dcterms:created xsi:type="dcterms:W3CDTF">2026-03-20T13:16:14Z</dcterms:created>
  <dcterms:modified xsi:type="dcterms:W3CDTF">2026-04-17T15:03:06Z</dcterms:modified>
</cp:coreProperties>
</file>